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9" r:id="rId2"/>
    <p:sldId id="273" r:id="rId3"/>
    <p:sldId id="271" r:id="rId4"/>
    <p:sldId id="272" r:id="rId5"/>
    <p:sldId id="287" r:id="rId6"/>
    <p:sldId id="261" r:id="rId7"/>
    <p:sldId id="256" r:id="rId8"/>
    <p:sldId id="267" r:id="rId9"/>
    <p:sldId id="257" r:id="rId10"/>
    <p:sldId id="259" r:id="rId11"/>
    <p:sldId id="265" r:id="rId12"/>
    <p:sldId id="279" r:id="rId13"/>
    <p:sldId id="260" r:id="rId14"/>
    <p:sldId id="263" r:id="rId15"/>
    <p:sldId id="264" r:id="rId16"/>
    <p:sldId id="262" r:id="rId17"/>
    <p:sldId id="274" r:id="rId18"/>
    <p:sldId id="275" r:id="rId19"/>
    <p:sldId id="280" r:id="rId20"/>
    <p:sldId id="281" r:id="rId21"/>
    <p:sldId id="282" r:id="rId22"/>
    <p:sldId id="283" r:id="rId23"/>
    <p:sldId id="284" r:id="rId24"/>
    <p:sldId id="285" r:id="rId25"/>
    <p:sldId id="286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3190" autoAdjust="0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C8058-64AC-449E-B28B-48135F2B3042}" type="datetimeFigureOut">
              <a:rPr lang="en-US" smtClean="0"/>
              <a:pPr/>
              <a:t>8/22/2020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65669-DFAA-4980-A015-3DB2310EF7B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anaconda.com/products/individual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python 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410097" y="440865"/>
            <a:ext cx="5722416" cy="1567543"/>
          </a:xfrm>
          <a:prstGeom prst="rect">
            <a:avLst/>
          </a:prstGeom>
          <a:effectLst/>
        </p:spPr>
        <p:txBody>
          <a:bodyPr vert="horz" lIns="68580" tIns="34290" rIns="68580" bIns="34290" rtlCol="0" anchor="ctr">
            <a:normAutofit/>
          </a:bodyPr>
          <a:lstStyle/>
          <a:p>
            <a:pPr algn="ctr" defTabSz="342900">
              <a:spcBef>
                <a:spcPct val="0"/>
              </a:spcBef>
              <a:defRPr/>
            </a:pPr>
            <a:endParaRPr lang="en-US" sz="2700" b="1" cap="all" dirty="0" smtClean="0">
              <a:ln w="3175" cmpd="sng">
                <a:noFill/>
              </a:ln>
              <a:solidFill>
                <a:srgbClr val="002060"/>
              </a:solidFill>
              <a:latin typeface="Adobe Gothic Std B"/>
              <a:ea typeface="+mj-ea"/>
              <a:cs typeface="+mj-cs"/>
            </a:endParaRPr>
          </a:p>
          <a:p>
            <a:pPr algn="ctr" defTabSz="342900">
              <a:spcBef>
                <a:spcPct val="0"/>
              </a:spcBef>
              <a:defRPr/>
            </a:pPr>
            <a:r>
              <a:rPr lang="en-US" sz="2700" b="1" cap="all" dirty="0" smtClean="0">
                <a:ln w="3175" cmpd="sng">
                  <a:noFill/>
                </a:ln>
                <a:solidFill>
                  <a:srgbClr val="002060"/>
                </a:solidFill>
                <a:latin typeface="Adobe Gothic Std B"/>
                <a:ea typeface="+mj-ea"/>
                <a:cs typeface="+mj-cs"/>
              </a:rPr>
              <a:t>SESSION on PYTHON</a:t>
            </a:r>
          </a:p>
          <a:p>
            <a:pPr defTabSz="342900">
              <a:spcBef>
                <a:spcPct val="0"/>
              </a:spcBef>
              <a:defRPr/>
            </a:pPr>
            <a:endParaRPr lang="en-US" sz="2700" b="1" cap="all" dirty="0" smtClean="0">
              <a:ln w="3175" cmpd="sng">
                <a:noFill/>
              </a:ln>
              <a:solidFill>
                <a:srgbClr val="002060"/>
              </a:solidFill>
              <a:latin typeface="Adobe Gothic Std B"/>
              <a:ea typeface="+mj-ea"/>
              <a:cs typeface="+mj-cs"/>
            </a:endParaRPr>
          </a:p>
          <a:p>
            <a:pPr defTabSz="342900">
              <a:spcBef>
                <a:spcPct val="0"/>
              </a:spcBef>
              <a:defRPr/>
            </a:pPr>
            <a:endParaRPr lang="en-IN" sz="2700" b="1" cap="all" dirty="0">
              <a:ln w="3175" cmpd="sng">
                <a:noFill/>
              </a:ln>
              <a:solidFill>
                <a:srgbClr val="002060"/>
              </a:solidFill>
              <a:latin typeface="Adobe Gothic Std B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212080" y="2083524"/>
            <a:ext cx="3487784" cy="836023"/>
          </a:xfrm>
          <a:prstGeom prst="rect">
            <a:avLst/>
          </a:prstGeom>
          <a:effectLst/>
        </p:spPr>
        <p:txBody>
          <a:bodyPr vert="horz" lIns="68580" tIns="34290" rIns="68580" bIns="34290" rtlCol="0" anchor="ctr">
            <a:normAutofit/>
          </a:bodyPr>
          <a:lstStyle/>
          <a:p>
            <a:pPr defTabSz="342900">
              <a:spcBef>
                <a:spcPct val="0"/>
              </a:spcBef>
              <a:defRPr/>
            </a:pPr>
            <a:r>
              <a:rPr lang="en-US" sz="2100" b="1" cap="all" dirty="0" smtClean="0">
                <a:ln w="3175" cmpd="sng">
                  <a:noFill/>
                </a:ln>
                <a:solidFill>
                  <a:srgbClr val="002060"/>
                </a:solidFill>
                <a:latin typeface="Adobe Gothic Std B"/>
                <a:ea typeface="+mj-ea"/>
                <a:cs typeface="+mj-cs"/>
              </a:rPr>
              <a:t>By </a:t>
            </a:r>
            <a:r>
              <a:rPr lang="en-US" sz="2100" b="1" cap="all" dirty="0" err="1" smtClean="0">
                <a:ln w="3175" cmpd="sng">
                  <a:noFill/>
                </a:ln>
                <a:solidFill>
                  <a:srgbClr val="002060"/>
                </a:solidFill>
                <a:latin typeface="Adobe Gothic Std B"/>
                <a:ea typeface="+mj-ea"/>
                <a:cs typeface="+mj-cs"/>
              </a:rPr>
              <a:t>Aditya</a:t>
            </a:r>
            <a:r>
              <a:rPr lang="en-US" sz="2100" b="1" cap="all" dirty="0" smtClean="0">
                <a:ln w="3175" cmpd="sng">
                  <a:noFill/>
                </a:ln>
                <a:solidFill>
                  <a:srgbClr val="002060"/>
                </a:solidFill>
                <a:latin typeface="Adobe Gothic Std B"/>
                <a:ea typeface="+mj-ea"/>
                <a:cs typeface="+mj-cs"/>
              </a:rPr>
              <a:t> </a:t>
            </a:r>
            <a:r>
              <a:rPr lang="en-US" sz="2100" b="1" cap="all" dirty="0" err="1" smtClean="0">
                <a:ln w="3175" cmpd="sng">
                  <a:noFill/>
                </a:ln>
                <a:solidFill>
                  <a:srgbClr val="002060"/>
                </a:solidFill>
                <a:latin typeface="Adobe Gothic Std B"/>
                <a:ea typeface="+mj-ea"/>
                <a:cs typeface="+mj-cs"/>
              </a:rPr>
              <a:t>Tripathi</a:t>
            </a:r>
            <a:endParaRPr lang="en-IN" sz="2100" b="1" cap="all" dirty="0">
              <a:ln w="3175" cmpd="sng">
                <a:noFill/>
              </a:ln>
              <a:solidFill>
                <a:srgbClr val="002060"/>
              </a:solidFill>
              <a:latin typeface="Adobe Gothic Std B"/>
              <a:ea typeface="+mj-ea"/>
              <a:cs typeface="+mj-cs"/>
            </a:endParaRPr>
          </a:p>
        </p:txBody>
      </p:sp>
      <p:pic>
        <p:nvPicPr>
          <p:cNvPr id="7" name="Picture 6" descr="LogoText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5200" y="462975"/>
            <a:ext cx="441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err="1" smtClean="0"/>
              <a:t>Aditya</a:t>
            </a:r>
            <a:r>
              <a:rPr lang="en-IN" sz="3200" b="1" dirty="0" smtClean="0"/>
              <a:t> </a:t>
            </a:r>
            <a:r>
              <a:rPr lang="en-IN" sz="3200" b="1" dirty="0" err="1" smtClean="0"/>
              <a:t>Tripathi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276600" y="1047750"/>
            <a:ext cx="5334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Bookman Old Style" pitchFamily="18" charset="0"/>
                <a:cs typeface="Arial" pitchFamily="34" charset="0"/>
              </a:rPr>
              <a:t>Co-founder and CEO of Coder Mask Pvt. Ltd.</a:t>
            </a:r>
          </a:p>
          <a:p>
            <a:endParaRPr lang="en-IN" dirty="0" smtClean="0">
              <a:latin typeface="Bookman Old Style" pitchFamily="18" charset="0"/>
              <a:cs typeface="Arial" pitchFamily="34" charset="0"/>
            </a:endParaRPr>
          </a:p>
          <a:p>
            <a:r>
              <a:rPr lang="en-IN" dirty="0" smtClean="0">
                <a:latin typeface="Bookman Old Style" pitchFamily="18" charset="0"/>
                <a:cs typeface="Arial" pitchFamily="34" charset="0"/>
              </a:rPr>
              <a:t>I am an Data Scientist and A.I. Expert.</a:t>
            </a:r>
          </a:p>
          <a:p>
            <a:r>
              <a:rPr lang="en-IN" dirty="0" smtClean="0">
                <a:latin typeface="Bookman Old Style" pitchFamily="18" charset="0"/>
                <a:cs typeface="Arial" pitchFamily="34" charset="0"/>
              </a:rPr>
              <a:t>I’ve been in training industry for 3 years and has taught over 10,000’s engineering graduates, 1000’s of non-technical/non-engineering graduates.</a:t>
            </a:r>
          </a:p>
          <a:p>
            <a:endParaRPr lang="en-IN" dirty="0" smtClean="0">
              <a:latin typeface="Bookman Old Style" pitchFamily="18" charset="0"/>
              <a:cs typeface="Arial" pitchFamily="34" charset="0"/>
            </a:endParaRPr>
          </a:p>
          <a:p>
            <a:r>
              <a:rPr lang="en-IN" dirty="0" smtClean="0">
                <a:latin typeface="Bookman Old Style" pitchFamily="18" charset="0"/>
                <a:cs typeface="Arial" pitchFamily="34" charset="0"/>
              </a:rPr>
              <a:t>Working as a freelance developer for 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>
                <a:latin typeface="Bookman Old Style" pitchFamily="18" charset="0"/>
                <a:cs typeface="Arial" pitchFamily="34" charset="0"/>
              </a:rPr>
              <a:t> Coding Brain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>
                <a:latin typeface="Bookman Old Style" pitchFamily="18" charset="0"/>
                <a:cs typeface="Arial" pitchFamily="34" charset="0"/>
              </a:rPr>
              <a:t> </a:t>
            </a:r>
            <a:r>
              <a:rPr lang="en-IN" dirty="0" err="1" smtClean="0">
                <a:latin typeface="Bookman Old Style" pitchFamily="18" charset="0"/>
                <a:cs typeface="Arial" pitchFamily="34" charset="0"/>
              </a:rPr>
              <a:t>Dyotis</a:t>
            </a:r>
            <a:r>
              <a:rPr lang="en-IN" dirty="0" smtClean="0">
                <a:latin typeface="Bookman Old Style" pitchFamily="18" charset="0"/>
                <a:cs typeface="Arial" pitchFamily="34" charset="0"/>
              </a:rPr>
              <a:t> Technologies</a:t>
            </a:r>
          </a:p>
        </p:txBody>
      </p:sp>
      <p:pic>
        <p:nvPicPr>
          <p:cNvPr id="7" name="Picture 6" descr="Actual 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28750"/>
            <a:ext cx="1905000" cy="2381250"/>
          </a:xfrm>
          <a:prstGeom prst="rect">
            <a:avLst/>
          </a:prstGeom>
        </p:spPr>
      </p:pic>
      <p:pic>
        <p:nvPicPr>
          <p:cNvPr id="5" name="Picture 4" descr="LogoText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WHAT IS COMPUTER SCIENCE?</a:t>
            </a:r>
            <a:endParaRPr lang="en-US" sz="2400" dirty="0">
              <a:latin typeface="Arial Rounded MT Bold" pitchFamily="34" charset="0"/>
            </a:endParaRPr>
          </a:p>
        </p:txBody>
      </p:sp>
      <p:pic>
        <p:nvPicPr>
          <p:cNvPr id="2053" name="Picture 5" descr="C:\Users\Aditya\AppData\Local\Microsoft\Windows\INetCache\IE\WCFWDRUT\unit1[1]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971550"/>
            <a:ext cx="4724399" cy="885825"/>
          </a:xfrm>
          <a:prstGeom prst="rect">
            <a:avLst/>
          </a:prstGeom>
          <a:noFill/>
        </p:spPr>
      </p:pic>
      <p:pic>
        <p:nvPicPr>
          <p:cNvPr id="2055" name="Picture 7" descr="C:\Users\Aditya\AppData\Local\Microsoft\Windows\INetCache\IE\V8O911UJ\Input_Processes_and_Outputs[1]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19400" y="3238500"/>
            <a:ext cx="4723823" cy="933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1612792" y="1962150"/>
            <a:ext cx="2959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Fig. How human brain works?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102797" y="4259818"/>
            <a:ext cx="2679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Fig. How computer works?</a:t>
            </a:r>
            <a:endParaRPr lang="en-US" dirty="0"/>
          </a:p>
        </p:txBody>
      </p:sp>
      <p:sp>
        <p:nvSpPr>
          <p:cNvPr id="12" name="Cloud Callout 11"/>
          <p:cNvSpPr/>
          <p:nvPr/>
        </p:nvSpPr>
        <p:spPr>
          <a:xfrm>
            <a:off x="4724400" y="2038350"/>
            <a:ext cx="2209800" cy="1295400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Computer Science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357485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DETAILED VIEW</a:t>
            </a:r>
            <a:endParaRPr lang="en-US" sz="2400" dirty="0">
              <a:latin typeface="Arial Rounded MT Bold" pitchFamily="34" charset="0"/>
            </a:endParaRPr>
          </a:p>
        </p:txBody>
      </p:sp>
      <p:pic>
        <p:nvPicPr>
          <p:cNvPr id="2050" name="Picture 2" descr="C:\Users\Aditya\AppData\Local\Microsoft\Windows\INetCache\IE\K8132E28\Computer1[1]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37" y="1000125"/>
            <a:ext cx="7858125" cy="36290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1285"/>
            <a:ext cx="75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Human-Computer Interaction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180975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Computer understand only low level language(machine language) i.e. 0(No-Signal) &amp; 1(Signal).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971550"/>
            <a:ext cx="830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As a Human we better understand high level </a:t>
            </a:r>
            <a:r>
              <a:rPr lang="en-IN" sz="2000" i="1" dirty="0" smtClean="0">
                <a:latin typeface="Bookman Old Style" pitchFamily="18" charset="0"/>
              </a:rPr>
              <a:t>language such as English, French, Hindi etc.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2625864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Hence </a:t>
            </a:r>
            <a:r>
              <a:rPr lang="en-IN" sz="2000" i="1" dirty="0" smtClean="0">
                <a:latin typeface="Bookman Old Style" pitchFamily="18" charset="0"/>
              </a:rPr>
              <a:t>to make </a:t>
            </a:r>
            <a:r>
              <a:rPr lang="en-IN" sz="2000" i="1" dirty="0" smtClean="0">
                <a:latin typeface="Bookman Old Style" pitchFamily="18" charset="0"/>
              </a:rPr>
              <a:t>human language to be understood by </a:t>
            </a:r>
            <a:r>
              <a:rPr lang="en-IN" sz="2000" i="1" dirty="0" smtClean="0">
                <a:latin typeface="Bookman Old Style" pitchFamily="18" charset="0"/>
              </a:rPr>
              <a:t>machines we need to convert it to machine language.</a:t>
            </a:r>
            <a:endParaRPr lang="en-US" sz="2000" dirty="0"/>
          </a:p>
        </p:txBody>
      </p:sp>
      <p:pic>
        <p:nvPicPr>
          <p:cNvPr id="6" name="Picture 5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1285"/>
            <a:ext cx="75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What is Program?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870287"/>
            <a:ext cx="830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latin typeface="Bookman Old Style" pitchFamily="18" charset="0"/>
              </a:rPr>
              <a:t>In simple terms, program is a set of logically built instructions.</a:t>
            </a:r>
            <a:endParaRPr lang="en-US" sz="2000" i="1" dirty="0">
              <a:latin typeface="Bookman Old Style" pitchFamily="18" charset="0"/>
            </a:endParaRPr>
          </a:p>
        </p:txBody>
      </p:sp>
      <p:pic>
        <p:nvPicPr>
          <p:cNvPr id="3082" name="Picture 10" descr="C:\Users\Aditya\AppData\Local\Microsoft\Windows\INetCache\IE\SWJUILE1\iNrQu[1].png"/>
          <p:cNvPicPr>
            <a:picLocks noChangeAspect="1" noChangeArrowheads="1"/>
          </p:cNvPicPr>
          <p:nvPr/>
        </p:nvPicPr>
        <p:blipFill>
          <a:blip r:embed="rId2"/>
          <a:srcRect l="25833" t="8499" r="40000" b="61857"/>
          <a:stretch>
            <a:fillRect/>
          </a:stretch>
        </p:blipFill>
        <p:spPr bwMode="auto">
          <a:xfrm>
            <a:off x="1219200" y="1504950"/>
            <a:ext cx="7029450" cy="3429000"/>
          </a:xfrm>
          <a:prstGeom prst="rect">
            <a:avLst/>
          </a:prstGeom>
          <a:noFill/>
        </p:spPr>
      </p:pic>
      <p:pic>
        <p:nvPicPr>
          <p:cNvPr id="5" name="Picture 4" descr="LogoText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1973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Why</a:t>
            </a:r>
            <a:r>
              <a:rPr lang="en-IN" sz="2800" dirty="0" smtClean="0">
                <a:latin typeface="Arial Rounded MT Bold" pitchFamily="34" charset="0"/>
              </a:rPr>
              <a:t> </a:t>
            </a:r>
            <a:r>
              <a:rPr lang="en-IN" sz="2400" dirty="0" smtClean="0">
                <a:latin typeface="Arial Rounded MT Bold" pitchFamily="34" charset="0"/>
              </a:rPr>
              <a:t>Programming</a:t>
            </a:r>
            <a:r>
              <a:rPr lang="en-IN" sz="2800" dirty="0" smtClean="0">
                <a:latin typeface="Arial Rounded MT Bold" pitchFamily="34" charset="0"/>
              </a:rPr>
              <a:t> ?</a:t>
            </a:r>
            <a:endParaRPr lang="en-US" sz="2800" dirty="0">
              <a:latin typeface="Arial Rounded MT Bold" pitchFamily="34" charset="0"/>
            </a:endParaRPr>
          </a:p>
        </p:txBody>
      </p:sp>
      <p:pic>
        <p:nvPicPr>
          <p:cNvPr id="1027" name="Picture 3" descr="C:\Users\Aditya\AppData\Local\Microsoft\Windows\INetCache\IE\JQV8NMK9\image-20151007-7345-1wdr081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75328" y="895350"/>
            <a:ext cx="2068672" cy="310515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04800" y="819150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In the daily life of the digital world, we use</a:t>
            </a:r>
            <a:endParaRPr lang="en-US" sz="2000" i="1" dirty="0">
              <a:latin typeface="Bookman Old Style" pitchFamily="18" charset="0"/>
            </a:endParaRPr>
          </a:p>
        </p:txBody>
      </p:sp>
      <p:pic>
        <p:nvPicPr>
          <p:cNvPr id="1029" name="Picture 5" descr="C:\Users\Aditya\AppData\Local\Microsoft\Windows\INetCache\IE\SWJUILE1\mobile-Apps[1]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276350"/>
            <a:ext cx="2362200" cy="2362200"/>
          </a:xfrm>
          <a:prstGeom prst="rect">
            <a:avLst/>
          </a:prstGeom>
          <a:noFill/>
        </p:spPr>
      </p:pic>
      <p:pic>
        <p:nvPicPr>
          <p:cNvPr id="1030" name="Picture 6" descr="C:\Users\Aditya\AppData\Local\Microsoft\Windows\INetCache\IE\JQV8NMK9\web-design-525x344[1]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1428750"/>
            <a:ext cx="3139928" cy="2057400"/>
          </a:xfrm>
          <a:prstGeom prst="rect">
            <a:avLst/>
          </a:prstGeom>
          <a:noFill/>
        </p:spPr>
      </p:pic>
      <p:pic>
        <p:nvPicPr>
          <p:cNvPr id="1031" name="Picture 7" descr="C:\Users\Aditya\AppData\Local\Microsoft\Windows\INetCache\IE\FVV2TGTS\Application-Software_thumb[2][1]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3400" y="1276350"/>
            <a:ext cx="2971800" cy="2590800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3886200" y="1330464"/>
            <a:ext cx="320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latin typeface="Bookman Old Style" pitchFamily="18" charset="0"/>
              </a:rPr>
              <a:t>all are possible because of programming.</a:t>
            </a:r>
            <a:endParaRPr lang="en-US" sz="2000" i="1" dirty="0">
              <a:latin typeface="Bookman Old Style" pitchFamily="18" charset="0"/>
            </a:endParaRPr>
          </a:p>
        </p:txBody>
      </p:sp>
      <p:pic>
        <p:nvPicPr>
          <p:cNvPr id="1036" name="Picture 12" descr="C:\Users\Aditya\AppData\Local\Microsoft\Windows\INetCache\IE\SWJUILE1\Computer-Networks-Cloud-Computing-Diagrams-Cloud-Applications[1]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81000" y="1276350"/>
            <a:ext cx="3426941" cy="213360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533400" y="3943350"/>
            <a:ext cx="815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Due to all these reasons, it's really important to learn how to use programming in our daily life.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38600" y="2238911"/>
            <a:ext cx="2971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Programming is important to create software and application.</a:t>
            </a:r>
            <a:endParaRPr lang="en-US" sz="2000" i="1" dirty="0">
              <a:latin typeface="Bookman Old Style" pitchFamily="18" charset="0"/>
            </a:endParaRPr>
          </a:p>
        </p:txBody>
      </p:sp>
      <p:pic>
        <p:nvPicPr>
          <p:cNvPr id="12" name="Picture 11" descr="LogoText-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5" grpId="1"/>
      <p:bldP spid="13" grpId="0"/>
      <p:bldP spid="13" grpId="1"/>
      <p:bldP spid="16" grpId="0"/>
      <p:bldP spid="16" grpId="1"/>
      <p:bldP spid="17" grpId="0"/>
      <p:bldP spid="1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1285"/>
            <a:ext cx="75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What is Programming?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1733550"/>
            <a:ext cx="784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Programming is the process of preparing an instructional program for a device.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895350"/>
            <a:ext cx="815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Programming is </a:t>
            </a:r>
            <a:r>
              <a:rPr lang="en-US" sz="2000" i="1" dirty="0" smtClean="0">
                <a:latin typeface="Bookman Old Style" pitchFamily="18" charset="0"/>
              </a:rPr>
              <a:t>the implementation of logic to facilitate specific computing operations and functionalities.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" y="3692664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i="1" dirty="0" smtClean="0">
                <a:latin typeface="Bookman Old Style" pitchFamily="18" charset="0"/>
              </a:rPr>
              <a:t> Programming can be done in one or more languages, which differ by application, domain and programming model.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2625864"/>
            <a:ext cx="815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In simplest term, </a:t>
            </a:r>
            <a:r>
              <a:rPr lang="en-US" sz="2000" i="1" dirty="0" smtClean="0">
                <a:latin typeface="Bookman Old Style" pitchFamily="18" charset="0"/>
              </a:rPr>
              <a:t>programming is an attempt to get a computer to complete a specific task without mistake.</a:t>
            </a:r>
            <a:endParaRPr lang="en-US" sz="2000" i="1" dirty="0">
              <a:latin typeface="Bookman Old Style" pitchFamily="18" charset="0"/>
            </a:endParaRPr>
          </a:p>
        </p:txBody>
      </p:sp>
      <p:pic>
        <p:nvPicPr>
          <p:cNvPr id="8" name="Picture 7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57200" y="3484562"/>
            <a:ext cx="8153400" cy="158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" grpId="1"/>
      <p:bldP spid="4" grpId="0"/>
      <p:bldP spid="4" grpId="1"/>
      <p:bldP spid="5" grpId="0"/>
      <p:bldP spid="5" grpId="1"/>
      <p:bldP spid="7" grpId="0"/>
      <p:bldP spid="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81285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Why so many programming languages?  </a:t>
            </a:r>
            <a:endParaRPr lang="en-US" sz="2400" dirty="0">
              <a:latin typeface="Arial Rounded MT Bold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1000" y="905511"/>
          <a:ext cx="8458201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19200"/>
                <a:gridCol w="6324601"/>
              </a:tblGrid>
              <a:tr h="48585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      Year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Language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     </a:t>
                      </a: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87453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1957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FORTANE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i="1" u="none" strike="noStrike" kern="1200" dirty="0" err="1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FOR</a:t>
                      </a:r>
                      <a:r>
                        <a:rPr lang="en-US" sz="1600" b="0" i="1" u="none" strike="noStrike" kern="1200" dirty="0" err="1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mula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1" u="none" strike="noStrike" kern="1200" dirty="0" err="1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TRAN</a:t>
                      </a:r>
                      <a:r>
                        <a:rPr lang="en-US" sz="1600" b="0" i="1" u="none" strike="noStrike" kern="1200" dirty="0" err="1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slation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 is a compiled imperative programming language especially suited to numeric computation and scientific computing.</a:t>
                      </a:r>
                      <a:endParaRPr lang="en-US" sz="1600" i="1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2878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1959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COBOL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i="1" u="none" strike="noStrike" kern="1200" dirty="0" err="1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CO</a:t>
                      </a:r>
                      <a:r>
                        <a:rPr lang="en-US" sz="1600" b="0" i="1" u="none" strike="noStrike" kern="1200" dirty="0" err="1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mmon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usiness </a:t>
                      </a:r>
                      <a:r>
                        <a:rPr lang="en-US" sz="1600" b="1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O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riented </a:t>
                      </a:r>
                      <a:r>
                        <a:rPr lang="en-US" sz="1600" b="1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L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anguage is a compiled computer programming language designed for business use.</a:t>
                      </a:r>
                      <a:endParaRPr lang="en-US" sz="1600" i="1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87453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Mid-1960’s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BASIC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eginners' </a:t>
                      </a:r>
                      <a:r>
                        <a:rPr lang="en-US" sz="1600" b="1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ll-purpose </a:t>
                      </a:r>
                      <a:r>
                        <a:rPr lang="en-US" sz="1600" b="1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S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ymbolic </a:t>
                      </a:r>
                      <a:r>
                        <a:rPr lang="en-US" sz="1600" b="1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nstruction </a:t>
                      </a:r>
                      <a:r>
                        <a:rPr lang="en-US" sz="1600" b="1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C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ode is a general-purpose, programming languages whose design philosophy emphasizes on ease of use.</a:t>
                      </a:r>
                      <a:endParaRPr lang="en-US" sz="1600" i="1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91232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1972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C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u="none" strike="noStrike" dirty="0">
                          <a:solidFill>
                            <a:srgbClr val="000000"/>
                          </a:solidFill>
                          <a:latin typeface="Bookman Old Style" pitchFamily="18" charset="0"/>
                        </a:rPr>
                        <a:t>C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latin typeface="Bookman Old Style" pitchFamily="18" charset="0"/>
                        </a:rPr>
                        <a:t> is a procedural programming language, initially developed by Dennis </a:t>
                      </a:r>
                      <a:r>
                        <a:rPr lang="en-US" sz="1600" b="0" i="1" u="none" strike="noStrike" dirty="0" smtClean="0">
                          <a:solidFill>
                            <a:srgbClr val="000000"/>
                          </a:solidFill>
                          <a:latin typeface="Bookman Old Style" pitchFamily="18" charset="0"/>
                        </a:rPr>
                        <a:t>Ritchie. 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latin typeface="Bookman Old Style" pitchFamily="18" charset="0"/>
                        </a:rPr>
                        <a:t>It was mainly developed as a system programming language to write an operating system.</a:t>
                      </a:r>
                      <a:endParaRPr lang="en-US" sz="1600" i="1" dirty="0">
                        <a:latin typeface="Bookman Old Style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81285"/>
            <a:ext cx="723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continues...   </a:t>
            </a:r>
            <a:endParaRPr lang="en-US" sz="2400" dirty="0">
              <a:latin typeface="Arial Rounded MT Bold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1000" y="905511"/>
          <a:ext cx="8458201" cy="3970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19200"/>
                <a:gridCol w="6324601"/>
              </a:tblGrid>
              <a:tr h="48585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      Year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Language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     </a:t>
                      </a: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87453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1980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C++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C++ is a cross-platform language that can be used to create high-performance applications. C++ was developed by </a:t>
                      </a:r>
                      <a:r>
                        <a:rPr lang="en-US" sz="1600" b="0" i="1" u="none" strike="noStrike" kern="1200" dirty="0" err="1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Bjarne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1" u="none" strike="noStrike" kern="1200" dirty="0" err="1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Stroustrup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.</a:t>
                      </a:r>
                      <a:endParaRPr lang="en-US" sz="1600" i="1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28782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ABC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ABC is an interactive programming language and environment for personal computing, originally intended as a good replacement for BASIC.</a:t>
                      </a:r>
                      <a:endParaRPr lang="en-US" sz="1600" i="1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87453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1991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PYTHON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Python successor of ABC is an interpreted, general-purpose programming language. Created by Guido Van </a:t>
                      </a:r>
                      <a:r>
                        <a:rPr lang="en-US" sz="1600" b="0" i="1" u="none" strike="noStrike" kern="1200" dirty="0" err="1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Rossum</a:t>
                      </a: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.</a:t>
                      </a:r>
                      <a:endParaRPr lang="en-US" sz="1600" i="1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91232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1995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Bookman Old Style" pitchFamily="18" charset="0"/>
                        </a:rPr>
                        <a:t>JAVA</a:t>
                      </a:r>
                      <a:endParaRPr lang="en-US" sz="1600" dirty="0">
                        <a:latin typeface="Bookman Old Style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1" u="none" strike="noStrike" kern="1200" dirty="0" smtClean="0">
                          <a:solidFill>
                            <a:schemeClr val="dk1"/>
                          </a:solidFill>
                          <a:latin typeface="Bookman Old Style" pitchFamily="18" charset="0"/>
                          <a:ea typeface="+mn-ea"/>
                          <a:cs typeface="+mn-cs"/>
                        </a:rPr>
                        <a:t>Java is a set of technologies (programming language and computing platform) for creating and running software. </a:t>
                      </a:r>
                      <a:endParaRPr lang="en-US" sz="1600" i="1" dirty="0">
                        <a:latin typeface="Bookman Old Style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81285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What is Python and history of Python?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819150"/>
            <a:ext cx="830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Python is open source, general purpose programming language.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" y="1251287"/>
            <a:ext cx="8305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i="1" dirty="0" smtClean="0">
                <a:latin typeface="Bookman Old Style" pitchFamily="18" charset="0"/>
              </a:rPr>
              <a:t> Python was initially designed by Guido Van </a:t>
            </a:r>
            <a:r>
              <a:rPr lang="en-US" sz="2000" i="1" dirty="0" err="1" smtClean="0">
                <a:latin typeface="Bookman Old Style" pitchFamily="18" charset="0"/>
              </a:rPr>
              <a:t>Rossum</a:t>
            </a:r>
            <a:r>
              <a:rPr lang="en-US" sz="2000" i="1" dirty="0" smtClean="0">
                <a:latin typeface="Bookman Old Style" pitchFamily="18" charset="0"/>
              </a:rPr>
              <a:t> in 1991 at Centrum </a:t>
            </a:r>
            <a:r>
              <a:rPr lang="en-US" sz="2000" i="1" dirty="0" err="1" smtClean="0">
                <a:latin typeface="Bookman Old Style" pitchFamily="18" charset="0"/>
              </a:rPr>
              <a:t>Wiskunde</a:t>
            </a:r>
            <a:r>
              <a:rPr lang="en-US" sz="2000" i="1" dirty="0" smtClean="0">
                <a:latin typeface="Bookman Old Style" pitchFamily="18" charset="0"/>
              </a:rPr>
              <a:t> &amp; </a:t>
            </a:r>
            <a:r>
              <a:rPr lang="en-US" sz="2000" i="1" dirty="0" err="1" smtClean="0">
                <a:latin typeface="Bookman Old Style" pitchFamily="18" charset="0"/>
              </a:rPr>
              <a:t>Informatica</a:t>
            </a:r>
            <a:r>
              <a:rPr lang="en-US" sz="2000" i="1" dirty="0" smtClean="0">
                <a:latin typeface="Bookman Old Style" pitchFamily="18" charset="0"/>
              </a:rPr>
              <a:t> (CWI) in Netherlands and developed by Python Software Foundation.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2321064"/>
            <a:ext cx="5257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i="1" dirty="0" smtClean="0">
                <a:latin typeface="Bookman Old Style" pitchFamily="18" charset="0"/>
              </a:rPr>
              <a:t> Python is successor of ABC Programming  Language.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102280"/>
            <a:ext cx="3328852" cy="29078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1000" y="3409950"/>
            <a:ext cx="4876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i="1" dirty="0" smtClean="0">
                <a:latin typeface="Bookman Old Style" pitchFamily="18" charset="0"/>
              </a:rPr>
              <a:t> The inspiration for the name came from BBC’s  TV Show – ‘Monty Python’s Flying Circus’</a:t>
            </a:r>
          </a:p>
        </p:txBody>
      </p:sp>
      <p:pic>
        <p:nvPicPr>
          <p:cNvPr id="11" name="Picture 10" descr="LogoText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6" grpId="1"/>
      <p:bldP spid="7" grpId="0"/>
      <p:bldP spid="7" grpId="1"/>
      <p:bldP spid="8" grpId="0"/>
      <p:bldP spid="8" grpId="1"/>
      <p:bldP spid="10" grpId="0"/>
      <p:bldP spid="1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5748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 smtClean="0">
                <a:latin typeface="Arial Rounded MT Bold" pitchFamily="34" charset="0"/>
              </a:rPr>
              <a:t>Python Vs Other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1047750"/>
            <a:ext cx="853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IN" sz="2000" b="1" i="1" dirty="0" smtClean="0">
                <a:latin typeface="Bookman Old Style" pitchFamily="18" charset="0"/>
              </a:rPr>
              <a:t>Python</a:t>
            </a:r>
            <a:r>
              <a:rPr lang="en-IN" sz="2000" i="1" dirty="0" smtClean="0">
                <a:latin typeface="Bookman Old Style" pitchFamily="18" charset="0"/>
              </a:rPr>
              <a:t> was released in 1991 and has become one of the most popular programming language in the world nearly about 2006.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" y="1863864"/>
            <a:ext cx="853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IN" sz="2000" b="1" i="1" dirty="0" smtClean="0">
                <a:latin typeface="Bookman Old Style" pitchFamily="18" charset="0"/>
              </a:rPr>
              <a:t>Java</a:t>
            </a:r>
            <a:r>
              <a:rPr lang="en-IN" sz="2000" i="1" dirty="0" smtClean="0">
                <a:latin typeface="Bookman Old Style" pitchFamily="18" charset="0"/>
              </a:rPr>
              <a:t> was released in 1995 in Sun </a:t>
            </a:r>
            <a:r>
              <a:rPr lang="en-IN" sz="2000" i="1" dirty="0" err="1" smtClean="0">
                <a:latin typeface="Bookman Old Style" pitchFamily="18" charset="0"/>
              </a:rPr>
              <a:t>Microsystem</a:t>
            </a:r>
            <a:r>
              <a:rPr lang="en-IN" sz="2000" i="1" dirty="0" smtClean="0">
                <a:latin typeface="Bookman Old Style" pitchFamily="18" charset="0"/>
              </a:rPr>
              <a:t> but had got 3 million devices quickly.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8003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 smtClean="0">
                <a:latin typeface="Arial Rounded MT Bold" pitchFamily="34" charset="0"/>
              </a:rPr>
              <a:t>How??</a:t>
            </a:r>
            <a:endParaRPr lang="en-US" sz="2800" dirty="0">
              <a:latin typeface="Arial Rounded MT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348615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latin typeface="Bookman Old Style" pitchFamily="18" charset="0"/>
              </a:rPr>
              <a:t>Around 2006 </a:t>
            </a:r>
            <a:r>
              <a:rPr lang="en-US" sz="2000" b="1" i="1" dirty="0" smtClean="0">
                <a:latin typeface="Bookman Old Style" pitchFamily="18" charset="0"/>
              </a:rPr>
              <a:t>Google</a:t>
            </a:r>
            <a:r>
              <a:rPr lang="en-US" sz="2000" i="1" dirty="0" smtClean="0">
                <a:latin typeface="Bookman Old Style" pitchFamily="18" charset="0"/>
              </a:rPr>
              <a:t> started using Python heavily and reinvesting in development of Python.</a:t>
            </a:r>
            <a:endParaRPr lang="en-US" sz="2000" i="1" dirty="0">
              <a:latin typeface="Bookman Old Style" pitchFamily="18" charset="0"/>
            </a:endParaRPr>
          </a:p>
        </p:txBody>
      </p:sp>
      <p:pic>
        <p:nvPicPr>
          <p:cNvPr id="7" name="Picture 6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285750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Why to choose Python Programming ?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819150"/>
            <a:ext cx="830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Python is the most trending programming language because of it’s application in Artificial Intelligence, Machine Learning and Data Science.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80975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Python's design philosophy emphasizes code readability with its notable use of significant whitespace.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4800" y="2549664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With python, we can create solutions quickly and others can understand them easily.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3308687"/>
            <a:ext cx="830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Because Python comes with a great standard libraries as well as open-source third party libraries. Hence mostly we don’t need to code from scratch, we can easily build-upon available code.</a:t>
            </a:r>
            <a:endParaRPr lang="en-US" sz="2000" i="1" dirty="0">
              <a:latin typeface="Bookman Old Style" pitchFamily="18" charset="0"/>
            </a:endParaRPr>
          </a:p>
        </p:txBody>
      </p:sp>
      <p:pic>
        <p:nvPicPr>
          <p:cNvPr id="10" name="Picture 9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5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81285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Applications of Python Programming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742950"/>
            <a:ext cx="64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Font typeface="Arial" pitchFamily="34" charset="0"/>
              <a:buChar char="•"/>
            </a:pPr>
            <a:r>
              <a:rPr lang="en-US" sz="2000" i="1" dirty="0" smtClean="0">
                <a:latin typeface="Bookman Old Style" pitchFamily="18" charset="0"/>
              </a:rPr>
              <a:t> In Data Science and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135618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Font typeface="Arial" pitchFamily="34" charset="0"/>
              <a:buChar char="•"/>
            </a:pPr>
            <a:r>
              <a:rPr lang="en-US" i="1" dirty="0" smtClean="0">
                <a:latin typeface="Bookman Old Style" pitchFamily="18" charset="0"/>
              </a:rPr>
              <a:t> In Scientific and Numeric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1516618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Font typeface="Arial" pitchFamily="34" charset="0"/>
              <a:buChar char="•"/>
            </a:pPr>
            <a:r>
              <a:rPr lang="en-US" i="1" dirty="0" smtClean="0">
                <a:latin typeface="Bookman Old Style" pitchFamily="18" charset="0"/>
              </a:rPr>
              <a:t> In Web based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1897618"/>
            <a:ext cx="868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Font typeface="Arial" pitchFamily="34" charset="0"/>
              <a:buChar char="•"/>
            </a:pPr>
            <a:r>
              <a:rPr lang="en-US" i="1" dirty="0" smtClean="0">
                <a:latin typeface="Bookman Old Style" pitchFamily="18" charset="0"/>
              </a:rPr>
              <a:t> In Image Processing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2278618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Font typeface="Arial" pitchFamily="34" charset="0"/>
              <a:buChar char="•"/>
            </a:pPr>
            <a:r>
              <a:rPr lang="en-US" i="1" dirty="0" smtClean="0">
                <a:latin typeface="Bookman Old Style" pitchFamily="18" charset="0"/>
              </a:rPr>
              <a:t> In Audio or Video based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2659618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Font typeface="Arial" pitchFamily="34" charset="0"/>
              <a:buChar char="•"/>
            </a:pPr>
            <a:r>
              <a:rPr lang="en-US" i="1" dirty="0" smtClean="0">
                <a:latin typeface="Bookman Old Style" pitchFamily="18" charset="0"/>
              </a:rPr>
              <a:t> In Desktop GUI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3040618"/>
            <a:ext cx="3105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buFont typeface="Arial" pitchFamily="34" charset="0"/>
              <a:buChar char="•"/>
            </a:pPr>
            <a:r>
              <a:rPr lang="en-US" i="1" dirty="0" smtClean="0">
                <a:latin typeface="Bookman Old Style" pitchFamily="18" charset="0"/>
              </a:rPr>
              <a:t> In Software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3421618"/>
            <a:ext cx="79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Font typeface="Arial" pitchFamily="34" charset="0"/>
              <a:buChar char="•"/>
            </a:pPr>
            <a:r>
              <a:rPr lang="en-US" i="1" dirty="0" smtClean="0">
                <a:latin typeface="Bookman Old Style" pitchFamily="18" charset="0"/>
              </a:rPr>
              <a:t> In Business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" y="3754219"/>
            <a:ext cx="75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Font typeface="Arial" pitchFamily="34" charset="0"/>
              <a:buChar char="•"/>
            </a:pPr>
            <a:r>
              <a:rPr lang="en-US" i="1" dirty="0" smtClean="0">
                <a:latin typeface="Bookman Old Style" pitchFamily="18" charset="0"/>
              </a:rPr>
              <a:t> In Console Based applications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04800" y="4095750"/>
            <a:ext cx="838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Font typeface="Arial" pitchFamily="34" charset="0"/>
              <a:buChar char="•"/>
            </a:pPr>
            <a:r>
              <a:rPr lang="en-US" i="1" dirty="0" smtClean="0">
                <a:latin typeface="Bookman Old Style" pitchFamily="18" charset="0"/>
              </a:rPr>
              <a:t> In 3D CAD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800" y="4440019"/>
            <a:ext cx="662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i="1" dirty="0" smtClean="0">
                <a:latin typeface="Bookman Old Style" pitchFamily="18" charset="0"/>
              </a:rPr>
              <a:t> In Cloud Configuration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4098" name="Picture 2" descr="C:\Users\Aditya\AppData\Local\Microsoft\Windows\INetCache\IE\N72PUKIN\analytics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838200"/>
            <a:ext cx="1749458" cy="1352550"/>
          </a:xfrm>
          <a:prstGeom prst="rect">
            <a:avLst/>
          </a:prstGeom>
          <a:noFill/>
        </p:spPr>
      </p:pic>
      <p:pic>
        <p:nvPicPr>
          <p:cNvPr id="4101" name="Picture 5" descr="C:\Users\Aditya\AppData\Local\Microsoft\Windows\INetCache\IE\JQV8NMK9\220px--A-Volumetric-Method-for-Quantifying-Atherosclerosis-in-Mice-by-Using-MicroCT-Comparison-to-En-Face-pone.0018800.s006.ogv[1]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1428750"/>
            <a:ext cx="1302011" cy="1296093"/>
          </a:xfrm>
          <a:prstGeom prst="rect">
            <a:avLst/>
          </a:prstGeom>
          <a:noFill/>
        </p:spPr>
      </p:pic>
      <p:pic>
        <p:nvPicPr>
          <p:cNvPr id="4104" name="Picture 8" descr="C:\Users\Aditya\AppData\Local\Microsoft\Windows\INetCache\IE\N72PUKIN\220px-YouTube_logo_(2013-2015)[1]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62400" y="2876550"/>
            <a:ext cx="1152525" cy="838200"/>
          </a:xfrm>
          <a:prstGeom prst="rect">
            <a:avLst/>
          </a:prstGeom>
          <a:noFill/>
        </p:spPr>
      </p:pic>
      <p:pic>
        <p:nvPicPr>
          <p:cNvPr id="4105" name="Picture 9" descr="C:\Users\Aditya\AppData\Local\Microsoft\Windows\INetCache\IE\JQV8NMK9\1-privatecloud_icon1[1]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352800" y="3867150"/>
            <a:ext cx="1828649" cy="1127667"/>
          </a:xfrm>
          <a:prstGeom prst="rect">
            <a:avLst/>
          </a:prstGeom>
          <a:noFill/>
        </p:spPr>
      </p:pic>
      <p:pic>
        <p:nvPicPr>
          <p:cNvPr id="4107" name="Picture 11" descr="C:\Users\Aditya\AppData\Local\Microsoft\Windows\INetCache\IE\FVV2TGTS\KpNEm[1]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331354" y="2343150"/>
            <a:ext cx="1812646" cy="1752600"/>
          </a:xfrm>
          <a:prstGeom prst="rect">
            <a:avLst/>
          </a:prstGeom>
          <a:noFill/>
        </p:spPr>
      </p:pic>
      <p:pic>
        <p:nvPicPr>
          <p:cNvPr id="4109" name="Picture 13" descr="C:\Users\Aditya\AppData\Local\Microsoft\Windows\INetCache\IE\SWJUILE1\3D-CAD-Modeling-SolidWorks-High-Performance-Engine-Part-Fuel-Pump-Mount-600x339[1].jpg"/>
          <p:cNvPicPr>
            <a:picLocks noChangeAspect="1" noChangeArrowheads="1"/>
          </p:cNvPicPr>
          <p:nvPr/>
        </p:nvPicPr>
        <p:blipFill>
          <a:blip r:embed="rId7"/>
          <a:srcRect l="22918"/>
          <a:stretch>
            <a:fillRect/>
          </a:stretch>
        </p:blipFill>
        <p:spPr bwMode="auto">
          <a:xfrm>
            <a:off x="5410200" y="3181350"/>
            <a:ext cx="1871243" cy="1371600"/>
          </a:xfrm>
          <a:prstGeom prst="rect">
            <a:avLst/>
          </a:prstGeom>
          <a:noFill/>
        </p:spPr>
      </p:pic>
      <p:pic>
        <p:nvPicPr>
          <p:cNvPr id="20" name="Picture 19" descr="LogoText-0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4" dur="500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4" dur="500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9" dur="500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4" dur="500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8" name="Picture 8" descr="C:\Users\Aditya\AppData\Local\Microsoft\Windows\INetCache\IE\FVV2TGTS\Hardware-785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02924" y="2724150"/>
            <a:ext cx="1630593" cy="1447800"/>
          </a:xfrm>
          <a:prstGeom prst="rect">
            <a:avLst/>
          </a:prstGeom>
          <a:noFill/>
        </p:spPr>
      </p:pic>
      <p:pic>
        <p:nvPicPr>
          <p:cNvPr id="5125" name="Picture 5" descr="C:\Users\Aditya\AppData\Local\Microsoft\Windows\INetCache\IE\SWJUILE1\1_ashQEM3pHWDllFd2E_-UmQ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2038350"/>
            <a:ext cx="1809750" cy="180975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228600" y="2095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Companies using Python at large scale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742950"/>
            <a:ext cx="495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Google</a:t>
            </a:r>
            <a:endParaRPr lang="en-US" sz="2000" i="1" dirty="0">
              <a:latin typeface="Bookman Old Style" pitchFamily="18" charset="0"/>
            </a:endParaRPr>
          </a:p>
        </p:txBody>
      </p:sp>
      <p:pic>
        <p:nvPicPr>
          <p:cNvPr id="5122" name="Picture 2" descr="C:\Users\Aditya\AppData\Local\Microsoft\Windows\INetCache\IE\N72PUKIN\google-76522_960_720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87195" y="742950"/>
            <a:ext cx="1671311" cy="990600"/>
          </a:xfrm>
          <a:prstGeom prst="rect">
            <a:avLst/>
          </a:prstGeom>
          <a:noFill/>
        </p:spPr>
      </p:pic>
      <p:pic>
        <p:nvPicPr>
          <p:cNvPr id="5123" name="Picture 3" descr="C:\Users\Aditya\AppData\Local\Microsoft\Windows\INetCache\IE\JQV8NMK9\502px-Logo_of_YouTube_(2015-2017).svg[1]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81600" y="1809750"/>
            <a:ext cx="1476376" cy="620549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57200" y="1123950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IN" sz="2000" i="1" dirty="0" err="1" smtClean="0">
                <a:latin typeface="Bookman Old Style" pitchFamily="18" charset="0"/>
              </a:rPr>
              <a:t>Facebook</a:t>
            </a:r>
            <a:endParaRPr lang="en-US" sz="2000" i="1" dirty="0">
              <a:latin typeface="Bookman Old Style" pitchFamily="18" charset="0"/>
            </a:endParaRPr>
          </a:p>
        </p:txBody>
      </p:sp>
      <p:pic>
        <p:nvPicPr>
          <p:cNvPr id="5124" name="Picture 4" descr="C:\Users\Aditya\AppData\Local\Microsoft\Windows\INetCache\IE\FVV2TGTS\dvqgw[1]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24600" y="895350"/>
            <a:ext cx="2113392" cy="6096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457200" y="1504950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Amazon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885950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IN" sz="2000" i="1" dirty="0" err="1" smtClean="0">
                <a:latin typeface="Bookman Old Style" pitchFamily="18" charset="0"/>
              </a:rPr>
              <a:t>Instagram</a:t>
            </a:r>
            <a:endParaRPr lang="en-US" sz="2000" i="1" dirty="0">
              <a:latin typeface="Bookman Old Style" pitchFamily="18" charset="0"/>
            </a:endParaRPr>
          </a:p>
        </p:txBody>
      </p:sp>
      <p:pic>
        <p:nvPicPr>
          <p:cNvPr id="5126" name="Picture 6" descr="C:\Users\Aditya\AppData\Local\Microsoft\Windows\INetCache\IE\N72PUKIN\Instagram_icon[1]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90800" y="1352550"/>
            <a:ext cx="914400" cy="914400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457200" y="234315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IN" sz="2000" i="1" dirty="0" err="1" smtClean="0">
                <a:latin typeface="Bookman Old Style" pitchFamily="18" charset="0"/>
              </a:rPr>
              <a:t>Uber</a:t>
            </a:r>
            <a:endParaRPr lang="en-US" sz="2000" i="1" dirty="0">
              <a:latin typeface="Bookman Old Style" pitchFamily="18" charset="0"/>
            </a:endParaRPr>
          </a:p>
        </p:txBody>
      </p:sp>
      <p:pic>
        <p:nvPicPr>
          <p:cNvPr id="5127" name="Picture 7" descr="C:\Users\Aditya\AppData\Local\Microsoft\Windows\INetCache\IE\JQV8NMK9\320px-UberEATS_logo_december_2017.svg[1]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581400" y="2495550"/>
            <a:ext cx="1741714" cy="762000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457200" y="2800350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IBM, HP, Qualcomm, Seagate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3467040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dirty="0" smtClean="0">
                <a:latin typeface="Bookman Old Style" pitchFamily="18" charset="0"/>
              </a:rPr>
              <a:t> </a:t>
            </a:r>
            <a:r>
              <a:rPr lang="en-US" sz="2000" dirty="0" err="1" smtClean="0">
                <a:latin typeface="Bookman Old Style" pitchFamily="18" charset="0"/>
              </a:rPr>
              <a:t>Spotify</a:t>
            </a:r>
            <a:r>
              <a:rPr lang="en-US" sz="2000" dirty="0" smtClean="0">
                <a:latin typeface="Bookman Old Style" pitchFamily="18" charset="0"/>
              </a:rPr>
              <a:t>, Netflix</a:t>
            </a:r>
            <a:endParaRPr lang="en-US" sz="2000" dirty="0">
              <a:latin typeface="Bookman Old Style" pitchFamily="18" charset="0"/>
            </a:endParaRPr>
          </a:p>
        </p:txBody>
      </p:sp>
      <p:pic>
        <p:nvPicPr>
          <p:cNvPr id="5129" name="Picture 9" descr="C:\Users\Aditya\AppData\Local\Microsoft\Windows\INetCache\IE\N72PUKIN\1200px-Aqualung_music_player_drop_icon.svg[1]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895600" y="3409950"/>
            <a:ext cx="1524000" cy="1524000"/>
          </a:xfrm>
          <a:prstGeom prst="rect">
            <a:avLst/>
          </a:prstGeom>
          <a:noFill/>
        </p:spPr>
      </p:pic>
      <p:pic>
        <p:nvPicPr>
          <p:cNvPr id="5130" name="Picture 10" descr="C:\Users\Aditya\AppData\Local\Microsoft\Windows\INetCache\IE\JQV8NMK9\cinema-154392_960_720[1]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086600" y="3486150"/>
            <a:ext cx="1320324" cy="1346506"/>
          </a:xfrm>
          <a:prstGeom prst="rect">
            <a:avLst/>
          </a:prstGeom>
          <a:noFill/>
        </p:spPr>
      </p:pic>
      <p:pic>
        <p:nvPicPr>
          <p:cNvPr id="19" name="Picture 18" descr="LogoText-0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3" dur="500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8" dur="500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" grpId="1"/>
      <p:bldP spid="6" grpId="0"/>
      <p:bldP spid="6" grpId="1"/>
      <p:bldP spid="8" grpId="0"/>
      <p:bldP spid="8" grpId="1"/>
      <p:bldP spid="10" grpId="0"/>
      <p:bldP spid="10" grpId="1"/>
      <p:bldP spid="12" grpId="0"/>
      <p:bldP spid="12" grpId="1"/>
      <p:bldP spid="15" grpId="0"/>
      <p:bldP spid="15" grpId="1"/>
      <p:bldP spid="18" grpId="0"/>
      <p:bldP spid="1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28575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Features of Python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" y="81915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Simple and clear syntax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1276350"/>
            <a:ext cx="800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Interpreted language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733550"/>
            <a:ext cx="716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Dynamic language.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4800" y="2190750"/>
            <a:ext cx="8458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Dynamically typed and strongly typed language.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2647950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Platform independent.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800" y="310515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Multi-paradigm programming language such as imperative, procedural, object oriented.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3878818"/>
            <a:ext cx="800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Follows OOP concept.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800" y="4400550"/>
            <a:ext cx="815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Supports multithreading.</a:t>
            </a:r>
            <a:endParaRPr lang="en-US" sz="2000" i="1" dirty="0">
              <a:latin typeface="Bookman Old Style" pitchFamily="18" charset="0"/>
            </a:endParaRPr>
          </a:p>
        </p:txBody>
      </p:sp>
      <p:pic>
        <p:nvPicPr>
          <p:cNvPr id="13" name="Picture 12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4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Ducat\Desktop\Amritsar Worksh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027" y="1123950"/>
            <a:ext cx="8558173" cy="3701667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28600" y="357485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Code of Python Vs Others</a:t>
            </a:r>
            <a:endParaRPr lang="en-US" sz="2400" dirty="0">
              <a:latin typeface="Arial Rounded MT Bold" pitchFamily="34" charset="0"/>
            </a:endParaRPr>
          </a:p>
        </p:txBody>
      </p:sp>
      <p:pic>
        <p:nvPicPr>
          <p:cNvPr id="4" name="Picture 3" descr="LogoText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 descr="pi.png"/>
          <p:cNvPicPr>
            <a:picLocks noChangeAspect="1"/>
          </p:cNvPicPr>
          <p:nvPr/>
        </p:nvPicPr>
        <p:blipFill>
          <a:blip r:embed="rId2"/>
          <a:srcRect b="31795"/>
          <a:stretch>
            <a:fillRect/>
          </a:stretch>
        </p:blipFill>
        <p:spPr>
          <a:xfrm>
            <a:off x="438334" y="1084217"/>
            <a:ext cx="8096066" cy="2782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" y="28575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Python Architecture</a:t>
            </a:r>
            <a:endParaRPr lang="en-US" sz="2400" dirty="0">
              <a:latin typeface="Arial Rounded MT Bold" pitchFamily="34" charset="0"/>
            </a:endParaRPr>
          </a:p>
        </p:txBody>
      </p:sp>
      <p:pic>
        <p:nvPicPr>
          <p:cNvPr id="4" name="Picture 3" descr="LogoText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81285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What is Code Environment?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819150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A code environment is a standalone and self-contained platform (environment) to run Python.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" y="1559064"/>
            <a:ext cx="8686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A code environment is a platform where we can write, run(convert to machine code) &amp; execute our Python code and again convert back machine code to high level code.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2619911"/>
            <a:ext cx="853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There are 3 main types of code environment in Python: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i="1" dirty="0" smtClean="0">
                <a:latin typeface="Bookman Old Style" pitchFamily="18" charset="0"/>
              </a:rPr>
              <a:t>Text Editor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i="1" dirty="0" smtClean="0">
                <a:latin typeface="Bookman Old Style" pitchFamily="18" charset="0"/>
              </a:rPr>
              <a:t>Full IDE’s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i="1" dirty="0" smtClean="0">
                <a:latin typeface="Bookman Old Style" pitchFamily="18" charset="0"/>
              </a:rPr>
              <a:t>Notebook Environment</a:t>
            </a:r>
            <a:endParaRPr lang="en-US" sz="2000" i="1" dirty="0">
              <a:latin typeface="Bookman Old Style" pitchFamily="18" charset="0"/>
            </a:endParaRPr>
          </a:p>
        </p:txBody>
      </p:sp>
      <p:pic>
        <p:nvPicPr>
          <p:cNvPr id="8" name="Picture 7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1285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Text Editor Environment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1885950"/>
            <a:ext cx="746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General editors for any text file.</a:t>
            </a:r>
          </a:p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Works with a variety of file types.</a:t>
            </a:r>
          </a:p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Can be customized with plug-ins and add-ons. 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19150"/>
            <a:ext cx="769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latin typeface="Bookman Old Style" pitchFamily="18" charset="0"/>
              </a:rPr>
              <a:t>Text editors refers to source code editors in programming are software programs that enable the user to create and edit text files.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028950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Arial Rounded MT Bold" pitchFamily="34" charset="0"/>
              </a:rPr>
              <a:t>Popular Python Text Editors: </a:t>
            </a:r>
            <a:r>
              <a:rPr lang="en-IN" sz="2000" dirty="0" smtClean="0"/>
              <a:t>VS Studio Code &amp; Notepad++</a:t>
            </a:r>
            <a:endParaRPr lang="en-US" sz="2000" dirty="0"/>
          </a:p>
        </p:txBody>
      </p:sp>
      <p:pic>
        <p:nvPicPr>
          <p:cNvPr id="6" name="Picture 5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81285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Full IDEs(</a:t>
            </a:r>
            <a:r>
              <a:rPr lang="en-US" sz="2400" i="1" dirty="0" smtClean="0">
                <a:latin typeface="Arial Rounded MT Bold" pitchFamily="34" charset="0"/>
              </a:rPr>
              <a:t>Integrated Development Environment)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" y="791111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latin typeface="Bookman Old Style" pitchFamily="18" charset="0"/>
              </a:rPr>
              <a:t>Development environment enables a complete set for source code editor as well as debugging featured building tool.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3360063"/>
            <a:ext cx="6019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 Rounded MT Bold" pitchFamily="34" charset="0"/>
              </a:rPr>
              <a:t>Popular Python IDEs: </a:t>
            </a:r>
            <a:r>
              <a:rPr lang="en-US" sz="2000" dirty="0" err="1" smtClean="0"/>
              <a:t>PyCharm</a:t>
            </a:r>
            <a:r>
              <a:rPr lang="en-US" sz="2000" dirty="0" smtClean="0"/>
              <a:t> &amp; </a:t>
            </a:r>
            <a:r>
              <a:rPr lang="en-US" sz="2000" dirty="0" err="1" smtClean="0"/>
              <a:t>Spyder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304800" y="1626334"/>
            <a:ext cx="8458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i="1" dirty="0" smtClean="0">
                <a:latin typeface="Bookman Old Style" pitchFamily="18" charset="0"/>
              </a:rPr>
              <a:t> Python IDE’s are designed specifically for Python.</a:t>
            </a:r>
          </a:p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Since designed for Python only, so have lots of extra functionalities such as code debugging etc.</a:t>
            </a:r>
          </a:p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Used for large program development.</a:t>
            </a:r>
          </a:p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Only community editions are free.</a:t>
            </a:r>
            <a:endParaRPr lang="en-US" sz="2000" i="1" dirty="0" smtClean="0">
              <a:latin typeface="Bookman Old Style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3867150"/>
            <a:ext cx="853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 Rounded MT Bold" pitchFamily="34" charset="0"/>
              </a:rPr>
              <a:t>Python Standard IDE: </a:t>
            </a:r>
            <a:r>
              <a:rPr lang="en-US" sz="2000" dirty="0" smtClean="0"/>
              <a:t>IDLE (Integrated Development Learning Environment) </a:t>
            </a:r>
            <a:endParaRPr lang="en-US" sz="2000" dirty="0"/>
          </a:p>
        </p:txBody>
      </p:sp>
      <p:pic>
        <p:nvPicPr>
          <p:cNvPr id="7" name="Picture 6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4" grpId="1"/>
      <p:bldP spid="6" grpId="0"/>
      <p:bldP spid="6" grpId="1"/>
      <p:bldP spid="8" grpId="0"/>
      <p:bldP spid="8" grpId="1"/>
      <p:bldP spid="9" grpId="0"/>
      <p:bldP spid="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81285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Notebook Environment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" y="791111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latin typeface="Bookman Old Style" pitchFamily="18" charset="0"/>
              </a:rPr>
              <a:t>Notebook environment is used for writing the code on the go and for seamless learning experience, where we can write our code and see the output side-by-side.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3409950"/>
            <a:ext cx="830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 Rounded MT Bold" pitchFamily="34" charset="0"/>
              </a:rPr>
              <a:t>Popular Notebook Environment: </a:t>
            </a:r>
            <a:r>
              <a:rPr lang="en-US" sz="2000" dirty="0" err="1" smtClean="0"/>
              <a:t>Jupyter</a:t>
            </a:r>
            <a:r>
              <a:rPr lang="en-US" sz="2000" dirty="0" smtClean="0"/>
              <a:t> Notebook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304800" y="1962150"/>
            <a:ext cx="845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i="1" dirty="0" smtClean="0">
                <a:latin typeface="Bookman Old Style" pitchFamily="18" charset="0"/>
              </a:rPr>
              <a:t> Great for learning.</a:t>
            </a:r>
          </a:p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See input and Output next to each other.</a:t>
            </a:r>
          </a:p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Support in-line markdown notes, tables, image, video etc.</a:t>
            </a:r>
          </a:p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Special file format that is not .</a:t>
            </a:r>
            <a:r>
              <a:rPr lang="en-IN" sz="2000" i="1" dirty="0" err="1" smtClean="0">
                <a:latin typeface="Bookman Old Style" pitchFamily="18" charset="0"/>
              </a:rPr>
              <a:t>py</a:t>
            </a:r>
            <a:r>
              <a:rPr lang="en-IN" sz="2000" i="1" dirty="0" smtClean="0">
                <a:latin typeface="Bookman Old Style" pitchFamily="18" charset="0"/>
              </a:rPr>
              <a:t>.</a:t>
            </a:r>
            <a:endParaRPr lang="en-US" sz="2000" i="1" dirty="0" smtClean="0">
              <a:latin typeface="Bookman Old Style" pitchFamily="18" charset="0"/>
            </a:endParaRPr>
          </a:p>
        </p:txBody>
      </p:sp>
      <p:pic>
        <p:nvPicPr>
          <p:cNvPr id="7" name="Picture 6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4" grpId="1"/>
      <p:bldP spid="6" grpId="0"/>
      <p:bldP spid="6" grpId="1"/>
      <p:bldP spid="8" grpId="0"/>
      <p:bldP spid="8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81285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JUPYTER NOTEBOOK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819150"/>
            <a:ext cx="716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sv-SE" sz="2000" i="1" dirty="0" smtClean="0">
                <a:latin typeface="Bookman Old Style" pitchFamily="18" charset="0"/>
              </a:rPr>
              <a:t> JUPYTER stands for </a:t>
            </a:r>
            <a:r>
              <a:rPr lang="sv-SE" sz="2000" b="1" i="1" dirty="0" smtClean="0">
                <a:latin typeface="Bookman Old Style" pitchFamily="18" charset="0"/>
              </a:rPr>
              <a:t>JU</a:t>
            </a:r>
            <a:r>
              <a:rPr lang="sv-SE" sz="2000" i="1" dirty="0" smtClean="0">
                <a:latin typeface="Bookman Old Style" pitchFamily="18" charset="0"/>
              </a:rPr>
              <a:t>lia, </a:t>
            </a:r>
            <a:r>
              <a:rPr lang="sv-SE" sz="2000" b="1" i="1" dirty="0" smtClean="0">
                <a:latin typeface="Bookman Old Style" pitchFamily="18" charset="0"/>
              </a:rPr>
              <a:t>PYT</a:t>
            </a:r>
            <a:r>
              <a:rPr lang="sv-SE" sz="2000" i="1" dirty="0" smtClean="0">
                <a:latin typeface="Bookman Old Style" pitchFamily="18" charset="0"/>
              </a:rPr>
              <a:t>hon, </a:t>
            </a:r>
            <a:r>
              <a:rPr lang="sv-SE" sz="2000" b="1" i="1" dirty="0" smtClean="0">
                <a:latin typeface="Bookman Old Style" pitchFamily="18" charset="0"/>
              </a:rPr>
              <a:t>R</a:t>
            </a:r>
            <a:r>
              <a:rPr lang="sv-SE" sz="2000" i="1" dirty="0" smtClean="0">
                <a:latin typeface="Bookman Old Style" pitchFamily="18" charset="0"/>
              </a:rPr>
              <a:t>uby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" y="1276350"/>
            <a:ext cx="8458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i="1" dirty="0" smtClean="0">
                <a:latin typeface="Bookman Old Style" pitchFamily="18" charset="0"/>
              </a:rPr>
              <a:t> </a:t>
            </a:r>
            <a:r>
              <a:rPr lang="en-US" sz="2000" i="1" dirty="0" err="1" smtClean="0">
                <a:latin typeface="Bookman Old Style" pitchFamily="18" charset="0"/>
              </a:rPr>
              <a:t>Jupyter</a:t>
            </a:r>
            <a:r>
              <a:rPr lang="en-US" sz="2000" i="1" dirty="0" smtClean="0">
                <a:latin typeface="Bookman Old Style" pitchFamily="18" charset="0"/>
              </a:rPr>
              <a:t> notebook is a open-sourced web-based application that allows interactive development in Python as well as over 40 other programming languages.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2521863"/>
            <a:ext cx="807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 smtClean="0">
                <a:latin typeface="Arial Rounded MT Bold" pitchFamily="34" charset="0"/>
              </a:rPr>
              <a:t>Features</a:t>
            </a:r>
            <a:endParaRPr lang="en-US" sz="2200" dirty="0">
              <a:latin typeface="Arial Rounded MT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3003887"/>
            <a:ext cx="701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sz="2000" i="1" dirty="0" smtClean="0">
                <a:latin typeface="Bookman Old Style" pitchFamily="18" charset="0"/>
              </a:rPr>
              <a:t>Supports markdown and enables us to add HTML components from images to videos. </a:t>
            </a:r>
          </a:p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</a:t>
            </a:r>
            <a:r>
              <a:rPr lang="en-US" sz="2000" i="1" dirty="0" smtClean="0">
                <a:latin typeface="Bookman Old Style" pitchFamily="18" charset="0"/>
              </a:rPr>
              <a:t>Can be integrated with cloud.</a:t>
            </a:r>
          </a:p>
        </p:txBody>
      </p:sp>
      <p:pic>
        <p:nvPicPr>
          <p:cNvPr id="4098" name="Picture 2" descr="C:\Users\Aditya\AppData\Local\Microsoft\Windows\INetCache\IE\N72PUKIN\1200px-Jupyter_logo.svg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2647950"/>
            <a:ext cx="1889935" cy="2190750"/>
          </a:xfrm>
          <a:prstGeom prst="rect">
            <a:avLst/>
          </a:prstGeom>
          <a:noFill/>
        </p:spPr>
      </p:pic>
      <p:pic>
        <p:nvPicPr>
          <p:cNvPr id="8" name="Picture 7" descr="LogoText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81285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JUPYTER NOTEBOOK INSTALLATION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3311664"/>
            <a:ext cx="830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i="1" dirty="0" smtClean="0">
                <a:latin typeface="Bookman Old Style" pitchFamily="18" charset="0"/>
              </a:rPr>
              <a:t> Anaconda is a open source Python/R data science distribution package manager, an environment manager and has a collection of over 7,500+ open-source packages.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742950"/>
            <a:ext cx="830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i="1" dirty="0" smtClean="0">
                <a:latin typeface="Bookman Old Style" pitchFamily="18" charset="0"/>
              </a:rPr>
              <a:t>We can install </a:t>
            </a:r>
            <a:r>
              <a:rPr lang="en-IN" sz="2000" i="1" dirty="0" err="1" smtClean="0">
                <a:latin typeface="Bookman Old Style" pitchFamily="18" charset="0"/>
              </a:rPr>
              <a:t>Jupyter</a:t>
            </a:r>
            <a:r>
              <a:rPr lang="en-IN" sz="2000" i="1" dirty="0" smtClean="0">
                <a:latin typeface="Bookman Old Style" pitchFamily="18" charset="0"/>
              </a:rPr>
              <a:t> in two ways: 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123951"/>
            <a:ext cx="8153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dirty="0" smtClean="0"/>
              <a:t> </a:t>
            </a:r>
            <a:r>
              <a:rPr lang="en-IN" sz="2000" i="1" dirty="0" smtClean="0">
                <a:latin typeface="Bookman Old Style" pitchFamily="18" charset="0"/>
              </a:rPr>
              <a:t>If Python standard IDE is already installed, using command line tool</a:t>
            </a:r>
            <a:endParaRPr lang="en-IN" sz="2000" b="1" dirty="0" smtClean="0">
              <a:latin typeface="Bookman Old Style" pitchFamily="18" charset="0"/>
            </a:endParaRPr>
          </a:p>
          <a:p>
            <a:pPr lvl="2"/>
            <a:endParaRPr lang="en-IN" sz="2000" b="1" dirty="0" smtClean="0">
              <a:latin typeface="Bookman Old Styl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324040"/>
            <a:ext cx="3459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Install through Anaconda</a:t>
            </a:r>
            <a:endParaRPr lang="en-US" sz="2000" i="1" dirty="0">
              <a:latin typeface="Bookman Old Style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1885950"/>
            <a:ext cx="4419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Bookman Old Style" pitchFamily="18" charset="0"/>
              </a:rPr>
              <a:t>command: </a:t>
            </a:r>
            <a:r>
              <a:rPr lang="en-IN" b="1" dirty="0" smtClean="0">
                <a:latin typeface="Bookman Old Style" pitchFamily="18" charset="0"/>
              </a:rPr>
              <a:t>pip install </a:t>
            </a:r>
            <a:r>
              <a:rPr lang="en-IN" b="1" dirty="0" err="1" smtClean="0">
                <a:latin typeface="Bookman Old Style" pitchFamily="18" charset="0"/>
              </a:rPr>
              <a:t>jupyter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66800" y="2800350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visit: </a:t>
            </a:r>
            <a:r>
              <a:rPr lang="en-US" dirty="0" smtClean="0">
                <a:hlinkClick r:id="rId2"/>
              </a:rPr>
              <a:t>https://www.anaconda.com/products/individual</a:t>
            </a:r>
            <a:endParaRPr lang="en-US" dirty="0"/>
          </a:p>
        </p:txBody>
      </p:sp>
      <p:pic>
        <p:nvPicPr>
          <p:cNvPr id="10" name="Picture 9" descr="LogoText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81285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Rounded MT Bold" pitchFamily="34" charset="0"/>
              </a:rPr>
              <a:t>Program Statement</a:t>
            </a:r>
            <a:endParaRPr lang="en-US" sz="2400" dirty="0">
              <a:latin typeface="Arial Rounded MT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742950"/>
            <a:ext cx="8534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i="1" dirty="0" smtClean="0">
                <a:latin typeface="Bookman Old Style" pitchFamily="18" charset="0"/>
              </a:rPr>
              <a:t> A computer program statement is a syntactic unit of an imperative programming language that expresses some action to be carried out by computer.</a:t>
            </a:r>
          </a:p>
          <a:p>
            <a:pPr>
              <a:buFont typeface="Arial" pitchFamily="34" charset="0"/>
              <a:buChar char="•"/>
            </a:pPr>
            <a:r>
              <a:rPr lang="en-US" sz="2000" i="1" dirty="0" smtClean="0">
                <a:latin typeface="Bookman Old Style" pitchFamily="18" charset="0"/>
              </a:rPr>
              <a:t> A computer program is formed by writing a sequence of one or more statements. A statement may have internal components.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2343150"/>
            <a:ext cx="85344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i="1" dirty="0" smtClean="0">
                <a:latin typeface="Bookman Old Style" pitchFamily="18" charset="0"/>
              </a:rPr>
              <a:t> In order to direct the actions performed by computer or to control the order of execution of actions</a:t>
            </a:r>
            <a:r>
              <a:rPr lang="en-US" sz="2000" i="1" dirty="0" smtClean="0">
                <a:latin typeface="Bookman Old Style" pitchFamily="18" charset="0"/>
              </a:rPr>
              <a:t> there are many different types of statements: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i="1" dirty="0" smtClean="0">
                <a:latin typeface="Bookman Old Style" pitchFamily="18" charset="0"/>
              </a:rPr>
              <a:t> </a:t>
            </a:r>
            <a:r>
              <a:rPr lang="en-IN" sz="2000" i="1" dirty="0" smtClean="0">
                <a:latin typeface="Bookman Old Style" pitchFamily="18" charset="0"/>
              </a:rPr>
              <a:t>Assignment statement</a:t>
            </a:r>
          </a:p>
          <a:p>
            <a:pPr lvl="1">
              <a:buFont typeface="Courier New" pitchFamily="49" charset="0"/>
              <a:buChar char="o"/>
            </a:pPr>
            <a:r>
              <a:rPr lang="en-IN" sz="2000" i="1" dirty="0" smtClean="0">
                <a:latin typeface="Bookman Old Style" pitchFamily="18" charset="0"/>
              </a:rPr>
              <a:t> Input/output statement</a:t>
            </a:r>
          </a:p>
          <a:p>
            <a:pPr lvl="1">
              <a:buFont typeface="Courier New" pitchFamily="49" charset="0"/>
              <a:buChar char="o"/>
            </a:pPr>
            <a:r>
              <a:rPr lang="en-IN" sz="2000" i="1" dirty="0" smtClean="0">
                <a:latin typeface="Bookman Old Style" pitchFamily="18" charset="0"/>
              </a:rPr>
              <a:t> Expression statement</a:t>
            </a:r>
          </a:p>
          <a:p>
            <a:pPr lvl="1">
              <a:buFont typeface="Courier New" pitchFamily="49" charset="0"/>
              <a:buChar char="o"/>
            </a:pPr>
            <a:r>
              <a:rPr lang="en-IN" sz="2000" i="1" dirty="0" smtClean="0">
                <a:latin typeface="Bookman Old Style" pitchFamily="18" charset="0"/>
              </a:rPr>
              <a:t> Flow control statement</a:t>
            </a:r>
          </a:p>
          <a:p>
            <a:pPr lvl="1">
              <a:buFont typeface="Courier New" pitchFamily="49" charset="0"/>
              <a:buChar char="o"/>
            </a:pPr>
            <a:r>
              <a:rPr lang="en-IN" sz="2000" i="1" dirty="0" smtClean="0">
                <a:latin typeface="Bookman Old Style" pitchFamily="18" charset="0"/>
              </a:rPr>
              <a:t> Etc..</a:t>
            </a:r>
            <a:endParaRPr lang="en-US" sz="2000" i="1" dirty="0" smtClean="0">
              <a:latin typeface="Bookman Old Style" pitchFamily="18" charset="0"/>
            </a:endParaRPr>
          </a:p>
          <a:p>
            <a:endParaRPr lang="en-US" dirty="0"/>
          </a:p>
        </p:txBody>
      </p:sp>
      <p:pic>
        <p:nvPicPr>
          <p:cNvPr id="5" name="Picture 4" descr="LogoTex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57150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1692</TotalTime>
  <Words>1302</Words>
  <Application>Microsoft Office PowerPoint</Application>
  <PresentationFormat>On-screen Show (16:9)</PresentationFormat>
  <Paragraphs>160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ADITYA TRIPATHI</dc:creator>
  <cp:lastModifiedBy>Windows User</cp:lastModifiedBy>
  <cp:revision>95</cp:revision>
  <dcterms:created xsi:type="dcterms:W3CDTF">2006-08-16T00:00:00Z</dcterms:created>
  <dcterms:modified xsi:type="dcterms:W3CDTF">2020-08-22T13:51:24Z</dcterms:modified>
</cp:coreProperties>
</file>